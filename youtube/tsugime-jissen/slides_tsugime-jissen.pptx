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2412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44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物流の無駄は、倉庫と輸送の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44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「あいだ」で生まれている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498848"/>
            <a:ext cx="1828800" cy="457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800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0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継ぎ目論・実践編 ─ 見つける／測る／持たせる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自己紹介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2880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2880360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20040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600"/>
              </a:spcAft>
            </a:pPr>
            <a:r>
              <a:rPr sz="34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ロジた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478024"/>
            <a:ext cx="100584" cy="10058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33172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運送会社の現場に19年（配達助手 → センター長 → 1,500人規模ターミナル副拠点長）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502152"/>
            <a:ext cx="100584" cy="10058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35584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いまは荷主側に移り、SCMの仕事をしています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4526280"/>
            <a:ext cx="100584" cy="10058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379976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運ぶ側と、運んでもらう側。両方の現場から見えたことを話しています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問いを立て直す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5029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5029200" cy="82296"/>
          </a:xfrm>
          <a:prstGeom prst="rect">
            <a:avLst/>
          </a:prstGeom>
          <a:solidFill>
            <a:srgbClr val="B9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7685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600" b="1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500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よくある問い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3547872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341985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どうすれば部門間の連携が良くなるか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4297680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4169664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→「連携を良くしましょう」で終わる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965960"/>
            <a:ext cx="5029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965960"/>
            <a:ext cx="5029200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7685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3500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立てるべき問い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02552" y="3547872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41985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この受け渡しは、誰が、どう渡すと決めているのか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2552" y="4297680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4169664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→ 変えられる場所が特定される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965960"/>
            <a:ext cx="82296" cy="23774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96596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継ぎ目とは、仕事を次の担当へ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「どう渡すか」の一点である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6177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0">
                <a:solidFill>
                  <a:srgbClr val="C9C2BA"/>
                </a:solidFill>
                <a:latin typeface="Hiragino Sans"/>
                <a:ea typeface="Hiragino Sans"/>
                <a:cs typeface="Hiragino Sans"/>
              </a:rPr>
              <a:t>倉庫と輸送のあいだ／受注と出荷のあいだ／荷主と運送会社のあいだ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8C857E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8C857E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なぜ継ぎ目は見えないのか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651760"/>
            <a:ext cx="10561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51760"/>
            <a:ext cx="68580" cy="13258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2928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834640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業務の境界が、想像の境界になっている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10128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その先で何が起きているか、頭の中に存在しない。存在しないものは改善されない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05656"/>
            <a:ext cx="10561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05656"/>
            <a:ext cx="68580" cy="13258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306824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288536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KPIが工程の内側しか測っていない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764024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生産性・稼働率・積載率。どれも「自分の範囲でうまくやったか」の道具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言葉を、一段だけ正確にする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5029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5029200" cy="82296"/>
          </a:xfrm>
          <a:prstGeom prst="rect">
            <a:avLst/>
          </a:prstGeom>
          <a:solidFill>
            <a:srgbClr val="B9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7685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600" b="1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500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曖昧な言い方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3236976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31089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部門間の壁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3986784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3858768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組織の連携不足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" y="4736592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460857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→ どこを直せばいいか分からない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965960"/>
            <a:ext cx="5029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965960"/>
            <a:ext cx="5029200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27685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3500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今日の定義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2552" y="3236976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31089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誰かが終え、次の誰かが受け取る一瞬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2552" y="3986784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3858768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倉庫が積んだ荷物を、輸送が受け取る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02552" y="4736592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460857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→ 特定の受け渡しを名指しできる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自部門の最適化が、そのまま隣を殴る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33101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3310128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15768"/>
            <a:ext cx="27249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倉庫｜積み込み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538728"/>
            <a:ext cx="27249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「積み終わるまで」が仕事。その先は意識の外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42816" y="3319272"/>
            <a:ext cx="438912" cy="310896"/>
          </a:xfrm>
          <a:prstGeom prst="rightArrow">
            <a:avLst/>
          </a:prstGeom>
          <a:solidFill>
            <a:srgbClr val="C6B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91456" y="2331720"/>
            <a:ext cx="33101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1456" y="2331720"/>
            <a:ext cx="3310128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2715768"/>
            <a:ext cx="27249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輸送｜出発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3538728"/>
            <a:ext cx="27249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出発をまとめれば、自分たちの数字は良く見える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11312" y="3319272"/>
            <a:ext cx="438912" cy="310896"/>
          </a:xfrm>
          <a:prstGeom prst="rightArrow">
            <a:avLst/>
          </a:prstGeom>
          <a:solidFill>
            <a:srgbClr val="C6B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59952" y="2331720"/>
            <a:ext cx="33101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2331720"/>
            <a:ext cx="3310128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715768"/>
            <a:ext cx="27249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着荷拠点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538728"/>
            <a:ext cx="27249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同じ時刻に車が並ぶ。着けない・降ろせない・待たされる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21608" y="4809744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1608" y="490118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継ぎ目：接続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0104" y="4809744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0104" y="490118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継ぎ目：到着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どちらもサボっていない。それでも受け渡しの一点で無駄が生まれる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継ぎ目が何十年も残る理由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5029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5029200" cy="82296"/>
          </a:xfrm>
          <a:prstGeom prst="rect">
            <a:avLst/>
          </a:prstGeom>
          <a:solidFill>
            <a:srgbClr val="B9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7685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600" b="1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500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受け手（下流）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3547872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341985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どう渡してほしいかを知っている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4297680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4169664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しかし、渡し方を変える権限がない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965960"/>
            <a:ext cx="5029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965960"/>
            <a:ext cx="5029200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7685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3500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渡し手（上流）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02552" y="3547872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41985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渡し方を変える権限がある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2552" y="4297680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4169664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しかし、変えるべき理由が見えていない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9612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知識と権限が、継ぎ目をはさんで反対側にある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継ぎ目を見つける5つの視点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38528"/>
            <a:ext cx="10561320" cy="73883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38528"/>
            <a:ext cx="68580" cy="738835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75688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57400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どの部署の目標にも入っていない作業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368296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誰かが評価もされずに善意でやっている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5379"/>
            <a:ext cx="10561320" cy="73883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05379"/>
            <a:ext cx="68580" cy="738835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42539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924251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「すみません」が発生する場所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235147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自分の責任ではないズレを個人が吸収している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72230"/>
            <a:ext cx="10561320" cy="73883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672230"/>
            <a:ext cx="68580" cy="738835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809390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791102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待っている人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101998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待機は必ず境界で起きる。手前に受け渡しがある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539081"/>
            <a:ext cx="10561320" cy="73883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539081"/>
            <a:ext cx="68580" cy="738835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676241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657953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帳票・システムが切り替わる場所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968849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標準がないから、人が目で見て打ち直している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405932"/>
            <a:ext cx="10561320" cy="73883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405932"/>
            <a:ext cx="68580" cy="738835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543092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524804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電話・メール・FAXが残っている場所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83570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処理しきれない分を、人が口頭で埋めている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0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手順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40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受け手に聞く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70048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200400"/>
            <a:ext cx="201168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01752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「どう渡してもらえたら楽ですか」の一言だけ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913632"/>
            <a:ext cx="201168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渡し手に聞いても「普通に渡しています」しか返らない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26864"/>
            <a:ext cx="201168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443984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継ぎ目の調査は、下流から始める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0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手順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40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受け手が被った量で測る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70048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200400"/>
            <a:ext cx="201168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01752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時間：バース待機・積み替え・確認の電話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913632"/>
            <a:ext cx="201168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件数：積み直しパレット・差し戻し・手入力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26864"/>
            <a:ext cx="201168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443984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滞留：仮置き在庫・未処理伝票・保留品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340096"/>
            <a:ext cx="201168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5157216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「何枚積んだか」ではなく「何枚が積み直しになったか」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0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手順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40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渡し手の帳票に載せる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70048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200400"/>
            <a:ext cx="201168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01752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積み直し発生率は、輸送ではなく倉庫の月次に載せる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913632"/>
            <a:ext cx="201168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被害報告 → 自分たちの成績、に変わる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26864"/>
            <a:ext cx="201168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443984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受け手の知識を、権限のある側へ運ぶ手段が指標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測る対象を、下流から上流へ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5029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5029200" cy="82296"/>
          </a:xfrm>
          <a:prstGeom prst="rect">
            <a:avLst/>
          </a:prstGeom>
          <a:solidFill>
            <a:srgbClr val="B9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7685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600" b="1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500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結果（下流）＝測りがち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3236976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31089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積載率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3986784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3858768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当日出荷率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" y="4736592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460857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バース待ち時間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965960"/>
            <a:ext cx="5029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965960"/>
            <a:ext cx="5029200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27685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3500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渡し方（上流）＝測るべき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2552" y="3236976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31089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パレタイズの質・積み直し発生率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2552" y="3986784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3858768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受注データの締めと確定タイミング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02552" y="4736592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460857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出発側の出車の平準化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9612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結果を測り、結果の側に責任を置いても現場は動けない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誤解①「正確に測れないから、やめる」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651760"/>
            <a:ext cx="10561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51760"/>
            <a:ext cx="68580" cy="13258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2928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834640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ゼロ→不正確 の差は、不正確→正確 の差より大きい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10128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月に一度の手集計でも、会議で使われる言葉が変わる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05656"/>
            <a:ext cx="10561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05656"/>
            <a:ext cx="68580" cy="13258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306824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288536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決めるべきは精度ではなく「誰が測るか」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764024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測る人を先に置く。精度は運用しながら上げる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誤解②「持たせれば解決する」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5029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5029200" cy="82296"/>
          </a:xfrm>
          <a:prstGeom prst="rect">
            <a:avLst/>
          </a:prstGeom>
          <a:solidFill>
            <a:srgbClr val="B9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7685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600" b="1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500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所有の設計（3点）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3236976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31089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管掌の宣言：どちらの担当かを明文化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3986784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3858768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指標の設置：管掌側の定例資料に載せる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" y="4736592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460857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判断基準：迷ったときの優先順位を渡す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965960"/>
            <a:ext cx="5029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965960"/>
            <a:ext cx="5029200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27685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3500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対価（必ずセット）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2552" y="3547872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341985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社外：料金項目として明示する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2552" y="4297680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4169664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社内：要員・予算・評価・決裁権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9612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対価のない引き受けは所有ではなく「吸収」。吸収は個人の疲弊として決算される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所有者が決まると、時間は消える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38528"/>
            <a:ext cx="10561320" cy="113995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38528"/>
            <a:ext cx="68580" cy="1139951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39696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21408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平均拘束時間 10時間13分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596896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前回調査から ▲1時間33分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06495"/>
            <a:ext cx="10561320" cy="113995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206495"/>
            <a:ext cx="68580" cy="1139951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07663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389375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荷待ち ▲28分／荷役 ▲46分 ＝ ▲1時間16分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864863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運転時間はほぼ横ばい。減ったのは受け渡しの時間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74462"/>
            <a:ext cx="10561320" cy="113995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474462"/>
            <a:ext cx="68580" cy="1139951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675630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657342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1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新しい機械もシステムも入っていない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132830"/>
            <a:ext cx="9281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改正物流効率化法が、荷主に努力義務＝継ぎ目に持ち主を指定した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9729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出典：国土交通省 2026年7月10日公表（対象：2025年4〜8月の運行）／改正物流効率化法 2025年4月1日施行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継ぎ目は消えない、移動する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5029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5029200" cy="82296"/>
          </a:xfrm>
          <a:prstGeom prst="rect">
            <a:avLst/>
          </a:prstGeom>
          <a:solidFill>
            <a:srgbClr val="B9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7685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600" b="1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500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潰した継ぎ目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3547872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341985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荷待ちに持ち主がついた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4297680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4169664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1時間16分が消えた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965960"/>
            <a:ext cx="5029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965960"/>
            <a:ext cx="5029200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7685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350008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8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隣に生まれた継ぎ目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02552" y="3547872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41985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待機場所の確保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2552" y="4297680"/>
            <a:ext cx="91440" cy="91440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4169664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付帯作業・受入体制へ重心が移動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9612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6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リストではなく地図で持つ：受け渡し点ごとに「持ち主／指標／対価」の3欄を埋め、潰したら両隣を見る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明日からできる3ステップ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33101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3310128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15768"/>
            <a:ext cx="27249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STEP 1　聞く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538728"/>
            <a:ext cx="27249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受け手に「どう渡してもらえたら楽ですか」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42816" y="3319272"/>
            <a:ext cx="438912" cy="310896"/>
          </a:xfrm>
          <a:prstGeom prst="rightArrow">
            <a:avLst/>
          </a:prstGeom>
          <a:solidFill>
            <a:srgbClr val="C6B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91456" y="2331720"/>
            <a:ext cx="33101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1456" y="2331720"/>
            <a:ext cx="3310128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2715768"/>
            <a:ext cx="27249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STEP 2　数える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3538728"/>
            <a:ext cx="27249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時間・件数・滞留から1つ。誰が数えるかを先に決める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11312" y="3319272"/>
            <a:ext cx="438912" cy="310896"/>
          </a:xfrm>
          <a:prstGeom prst="rightArrow">
            <a:avLst/>
          </a:prstGeom>
          <a:solidFill>
            <a:srgbClr val="C6B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59952" y="2331720"/>
            <a:ext cx="3310128" cy="2331720"/>
          </a:xfrm>
          <a:prstGeom prst="rect">
            <a:avLst/>
          </a:prstGeom>
          <a:solidFill>
            <a:srgbClr val="26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2331720"/>
            <a:ext cx="3310128" cy="822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715768"/>
            <a:ext cx="27249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STEP 3　載せる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538728"/>
            <a:ext cx="27249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D8D2CC"/>
                </a:solidFill>
                <a:latin typeface="Hiragino Sans"/>
                <a:ea typeface="Hiragino Sans"/>
                <a:cs typeface="Hiragino Sans"/>
              </a:rPr>
              <a:t>渡し手の定例資料へ。被害報告を成績表に変える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566928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3200" b="1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561320" cy="9525"/>
          </a:xfrm>
          <a:prstGeom prst="rect">
            <a:avLst/>
          </a:prstGeom>
          <a:solidFill>
            <a:srgbClr val="DD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0312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0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継ぎ目＝受け渡しの一点。知識は受け手に、権限は渡し手にある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077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89504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0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探すときは症状から逆算する（目標外の作業・すみません・待ち・転記・FAX）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9417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75888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0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測るのは結果ではなく渡し方。受け手が被った量で数える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8056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462272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0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載せる先は渡し手の帳票。持たせるなら管掌・指標・対価の3点セット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6694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900" b="1">
                <a:solidFill>
                  <a:srgbClr val="B85042"/>
                </a:solidFill>
                <a:latin typeface="Hiragino Sans"/>
                <a:ea typeface="Hiragino Sans"/>
                <a:cs typeface="Hiragino Sans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248656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2000" b="0">
                <a:solidFill>
                  <a:srgbClr val="22201E"/>
                </a:solidFill>
                <a:latin typeface="Hiragino Sans"/>
                <a:ea typeface="Hiragino Sans"/>
                <a:cs typeface="Hiragino Sans"/>
              </a:rPr>
              <a:t>差がつくのは、想像力を帳票と値付けに変換できているかどうか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45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2453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E6760"/>
                </a:solidFill>
                <a:latin typeface="Hiragino Sans"/>
                <a:ea typeface="Hiragino Sans"/>
                <a:cs typeface="Hiragino San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